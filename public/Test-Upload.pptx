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type="ctrTitle"/>
          </p:nvPr>
        </p:nvSpPr>
        <p:spPr>
          <a:xfrm>
            <a:off x="-3780" y="322454"/>
            <a:ext cx="5586066" cy="4625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b="1" lang="en-US" sz="6600"/>
              <a:t>Mixed Reality</a:t>
            </a:r>
            <a:br>
              <a:rPr lang="en-US" sz="6600"/>
            </a:br>
            <a:r>
              <a:rPr lang="en-US" sz="3800"/>
              <a:t> </a:t>
            </a:r>
            <a:br>
              <a:rPr lang="en-US" sz="3800"/>
            </a:br>
            <a:r>
              <a:rPr lang="en-US" sz="3600"/>
              <a:t>Bridging the Real &amp;</a:t>
            </a:r>
            <a:br>
              <a:rPr lang="en-US" sz="3600"/>
            </a:br>
            <a:r>
              <a:rPr lang="en-US" sz="3600"/>
              <a:t> Virtual Worlds</a:t>
            </a:r>
            <a:endParaRPr sz="360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423694" y="5363521"/>
            <a:ext cx="3528938" cy="1331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</a:rPr>
              <a:t>By</a:t>
            </a:r>
            <a:endParaRPr sz="2400"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Harikishore .G   [24071A6793]</a:t>
            </a:r>
            <a:endParaRPr sz="1600"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Harshini .E         [24071A6794]</a:t>
            </a:r>
            <a:endParaRPr sz="1600"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Janaki Ram .K    [24071A6795]</a:t>
            </a:r>
            <a:endParaRPr sz="1600">
              <a:solidFill>
                <a:schemeClr val="dk1"/>
              </a:solidFill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Nikhil .J               [24071A6796]</a:t>
            </a:r>
            <a:endParaRPr sz="1600">
              <a:solidFill>
                <a:schemeClr val="dk1"/>
              </a:solidFill>
            </a:endParaRPr>
          </a:p>
          <a:p>
            <a:pPr indent="508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t/>
            </a:r>
            <a:endParaRPr sz="800"/>
          </a:p>
          <a:p>
            <a:pPr indent="50800" lvl="0" marL="0" rtl="0" algn="l">
              <a:lnSpc>
                <a:spcPct val="90000"/>
              </a:lnSpc>
              <a:spcBef>
                <a:spcPts val="16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r>
              <a:t/>
            </a:r>
            <a:endParaRPr sz="800"/>
          </a:p>
        </p:txBody>
      </p:sp>
      <p:pic>
        <p:nvPicPr>
          <p:cNvPr descr="preencoded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2307" r="0" t="0"/>
          <a:stretch/>
        </p:blipFill>
        <p:spPr>
          <a:xfrm>
            <a:off x="5051289" y="10"/>
            <a:ext cx="4092711" cy="6857990"/>
          </a:xfrm>
          <a:custGeom>
            <a:rect b="b" l="l" r="r" t="t"/>
            <a:pathLst>
              <a:path extrusionOk="0" h="6858000" w="5962785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571500" y="1143486"/>
            <a:ext cx="3020484" cy="1437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/>
              <a:t>What is Mixed Reality?</a:t>
            </a:r>
            <a:endParaRPr/>
          </a:p>
        </p:txBody>
      </p:sp>
      <p:cxnSp>
        <p:nvCxnSpPr>
          <p:cNvPr id="93" name="Google Shape;93;p14"/>
          <p:cNvCxnSpPr/>
          <p:nvPr/>
        </p:nvCxnSpPr>
        <p:spPr>
          <a:xfrm>
            <a:off x="648855" y="871146"/>
            <a:ext cx="552704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3765959" y="457201"/>
            <a:ext cx="5247769" cy="2734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Mixed Reality (MR) merges real and virtual environments, allowing users to interact with both physical and digital objects in real-time.</a:t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Combines Augmented Reality (AR) and Virtual Reality (VR), seamlessly blending virtual elements with reality.</a:t>
            </a:r>
            <a:endParaRPr sz="2400"/>
          </a:p>
        </p:txBody>
      </p:sp>
      <p:pic>
        <p:nvPicPr>
          <p:cNvPr descr="A person wearing virtual reality goggles&#10;&#10;Description automatically generated" id="95" name="Google Shape;95;p14"/>
          <p:cNvPicPr preferRelativeResize="0"/>
          <p:nvPr/>
        </p:nvPicPr>
        <p:blipFill rotWithShape="1">
          <a:blip r:embed="rId3">
            <a:alphaModFix/>
          </a:blip>
          <a:srcRect b="4158" l="0" r="0" t="25878"/>
          <a:stretch/>
        </p:blipFill>
        <p:spPr>
          <a:xfrm>
            <a:off x="20" y="3195484"/>
            <a:ext cx="9143980" cy="3662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>
            <p:ph type="title"/>
          </p:nvPr>
        </p:nvSpPr>
        <p:spPr>
          <a:xfrm>
            <a:off x="602832" y="965973"/>
            <a:ext cx="4642809" cy="11829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How Mixed Reality Works</a:t>
            </a:r>
            <a:endParaRPr/>
          </a:p>
        </p:txBody>
      </p:sp>
      <p:cxnSp>
        <p:nvCxnSpPr>
          <p:cNvPr id="102" name="Google Shape;102;p15"/>
          <p:cNvCxnSpPr/>
          <p:nvPr/>
        </p:nvCxnSpPr>
        <p:spPr>
          <a:xfrm>
            <a:off x="0" y="806470"/>
            <a:ext cx="5927792" cy="0"/>
          </a:xfrm>
          <a:prstGeom prst="straightConnector1">
            <a:avLst/>
          </a:prstGeom>
          <a:noFill/>
          <a:ln cap="sq" cmpd="sng" w="25400">
            <a:solidFill>
              <a:schemeClr val="accent1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602832" y="2151997"/>
            <a:ext cx="4642809" cy="4402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</a:rPr>
              <a:t>Hardware</a:t>
            </a:r>
            <a:r>
              <a:rPr lang="en-US" sz="2400">
                <a:solidFill>
                  <a:schemeClr val="dk1"/>
                </a:solidFill>
              </a:rPr>
              <a:t>: Sensors (depth cameras, accelerometers) and displays like Microsoft HoloLens.</a:t>
            </a:r>
            <a:endParaRPr sz="2400"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</a:rPr>
              <a:t>Software</a:t>
            </a:r>
            <a:r>
              <a:rPr lang="en-US" sz="2400">
                <a:solidFill>
                  <a:schemeClr val="dk1"/>
                </a:solidFill>
              </a:rPr>
              <a:t>: Real-time data processing and graphics rendering engines (Unity, Unreal Engine).</a:t>
            </a:r>
            <a:endParaRPr sz="2400"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</a:rPr>
              <a:t>Interaction Mechanisms</a:t>
            </a:r>
            <a:r>
              <a:rPr lang="en-US" sz="2400">
                <a:solidFill>
                  <a:schemeClr val="dk1"/>
                </a:solidFill>
              </a:rPr>
              <a:t>: Voice, gestures, and eye tracking enable interaction.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descr="A person wearing virtual reality goggles&#10;&#10;Description automatically generated" id="104" name="Google Shape;104;p15"/>
          <p:cNvPicPr preferRelativeResize="0"/>
          <p:nvPr/>
        </p:nvPicPr>
        <p:blipFill rotWithShape="1">
          <a:blip r:embed="rId3">
            <a:alphaModFix/>
          </a:blip>
          <a:srcRect b="-1" l="13196" r="11801" t="0"/>
          <a:stretch/>
        </p:blipFill>
        <p:spPr>
          <a:xfrm>
            <a:off x="5588973" y="1665519"/>
            <a:ext cx="3200734" cy="4267645"/>
          </a:xfrm>
          <a:custGeom>
            <a:rect b="b" l="l" r="r" t="t"/>
            <a:pathLst>
              <a:path extrusionOk="0" h="2457864" w="2457864">
                <a:moveTo>
                  <a:pt x="1228932" y="0"/>
                </a:moveTo>
                <a:cubicBezTo>
                  <a:pt x="1907652" y="0"/>
                  <a:pt x="2457864" y="550212"/>
                  <a:pt x="2457864" y="1228932"/>
                </a:cubicBezTo>
                <a:cubicBezTo>
                  <a:pt x="2457864" y="1907652"/>
                  <a:pt x="1907652" y="2457864"/>
                  <a:pt x="1228932" y="2457864"/>
                </a:cubicBezTo>
                <a:cubicBezTo>
                  <a:pt x="550212" y="2457864"/>
                  <a:pt x="0" y="1907652"/>
                  <a:pt x="0" y="1228932"/>
                </a:cubicBezTo>
                <a:cubicBezTo>
                  <a:pt x="0" y="550212"/>
                  <a:pt x="550212" y="0"/>
                  <a:pt x="1228932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8226960" y="1780012"/>
            <a:ext cx="104279" cy="13903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8461192" y="2070656"/>
            <a:ext cx="68354" cy="91138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11360" t="0"/>
          <a:stretch/>
        </p:blipFill>
        <p:spPr>
          <a:xfrm>
            <a:off x="20" y="-2"/>
            <a:ext cx="4057627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4057647" y="-1"/>
            <a:ext cx="5086352" cy="2286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55600" sx="95000" rotWithShape="0" algn="t" dist="152400" sy="95000">
              <a:srgbClr val="000000">
                <a:alpha val="2862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>
            <p:ph type="title"/>
          </p:nvPr>
        </p:nvSpPr>
        <p:spPr>
          <a:xfrm>
            <a:off x="4237238" y="363352"/>
            <a:ext cx="4627892" cy="1559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Applications of Mixed Reality</a:t>
            </a: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4057321" y="2288117"/>
            <a:ext cx="5089087" cy="4565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Education</a:t>
            </a:r>
            <a:r>
              <a:rPr lang="en-US" sz="2200"/>
              <a:t>: Virtual labs for safe experiments and immersive historical recreations.</a:t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Healthcare</a:t>
            </a:r>
            <a:r>
              <a:rPr lang="en-US" sz="2200"/>
              <a:t>: Surgical planning, real-time guidance, and mental health therapies.</a:t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Engineering and Design</a:t>
            </a:r>
            <a:r>
              <a:rPr lang="en-US" sz="2200"/>
              <a:t>: 3D prototyping and machinery operation simulations.</a:t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Gaming and Entertainment</a:t>
            </a:r>
            <a:r>
              <a:rPr lang="en-US" sz="2200"/>
              <a:t>: Holographic interactions and immersive experiences.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17"/>
          <p:cNvPicPr preferRelativeResize="0"/>
          <p:nvPr/>
        </p:nvPicPr>
        <p:blipFill rotWithShape="1">
          <a:blip r:embed="rId3">
            <a:alphaModFix/>
          </a:blip>
          <a:srcRect b="-2" l="4114" r="-1" t="0"/>
          <a:stretch/>
        </p:blipFill>
        <p:spPr>
          <a:xfrm>
            <a:off x="-7145" y="3725"/>
            <a:ext cx="4384623" cy="6850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7"/>
          <p:cNvGrpSpPr/>
          <p:nvPr/>
        </p:nvGrpSpPr>
        <p:grpSpPr>
          <a:xfrm>
            <a:off x="-7145" y="-6558"/>
            <a:ext cx="4691122" cy="6874766"/>
            <a:chOff x="-9149" y="3725"/>
            <a:chExt cx="6254832" cy="6887203"/>
          </a:xfrm>
        </p:grpSpPr>
        <p:sp>
          <p:nvSpPr>
            <p:cNvPr id="123" name="Google Shape;123;p17"/>
            <p:cNvSpPr/>
            <p:nvPr/>
          </p:nvSpPr>
          <p:spPr>
            <a:xfrm>
              <a:off x="-9149" y="238645"/>
              <a:ext cx="5933139" cy="6387893"/>
            </a:xfrm>
            <a:custGeom>
              <a:rect b="b" l="l" r="r" t="t"/>
              <a:pathLst>
                <a:path extrusionOk="0" h="6335678" w="5933139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-9149" y="241478"/>
              <a:ext cx="5953893" cy="6434152"/>
            </a:xfrm>
            <a:custGeom>
              <a:rect b="b" l="l" r="r" t="t"/>
              <a:pathLst>
                <a:path extrusionOk="0" h="6434152" w="5953893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-9149" y="231462"/>
              <a:ext cx="5953893" cy="6444167"/>
            </a:xfrm>
            <a:custGeom>
              <a:rect b="b" l="l" r="r" t="t"/>
              <a:pathLst>
                <a:path extrusionOk="0" h="6434152" w="5953893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-9149" y="3725"/>
              <a:ext cx="5855313" cy="6880645"/>
            </a:xfrm>
            <a:custGeom>
              <a:rect b="b" l="l" r="r" t="t"/>
              <a:pathLst>
                <a:path extrusionOk="0" h="6880645" w="5855313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-9149" y="26370"/>
              <a:ext cx="6254832" cy="6864558"/>
            </a:xfrm>
            <a:custGeom>
              <a:rect b="b" l="l" r="r" t="t"/>
              <a:pathLst>
                <a:path extrusionOk="0" h="6864558" w="6254832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7"/>
          <p:cNvSpPr txBox="1"/>
          <p:nvPr>
            <p:ph type="title"/>
          </p:nvPr>
        </p:nvSpPr>
        <p:spPr>
          <a:xfrm>
            <a:off x="4178995" y="707705"/>
            <a:ext cx="4855315" cy="1708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Role of </a:t>
            </a:r>
            <a:br>
              <a:rPr b="1" lang="en-US" sz="4000"/>
            </a:br>
            <a:r>
              <a:rPr b="1" lang="en-US" sz="4000"/>
              <a:t>C Programming in Mixed Reality</a:t>
            </a:r>
            <a:endParaRPr/>
          </a:p>
        </p:txBody>
      </p:sp>
      <p:sp>
        <p:nvSpPr>
          <p:cNvPr id="129" name="Google Shape;129;p17"/>
          <p:cNvSpPr txBox="1"/>
          <p:nvPr>
            <p:ph idx="1" type="body"/>
          </p:nvPr>
        </p:nvSpPr>
        <p:spPr>
          <a:xfrm>
            <a:off x="4440930" y="2415756"/>
            <a:ext cx="4706850" cy="4443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High Performance</a:t>
            </a:r>
            <a:r>
              <a:rPr lang="en-US" sz="2400"/>
              <a:t>: Ideal for real-time data processing in MR.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Hardware Compatibility</a:t>
            </a:r>
            <a:r>
              <a:rPr lang="en-US" sz="2400"/>
              <a:t>: Integrates seamlessly with device drivers and APIs.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Algorithm Implementation</a:t>
            </a:r>
            <a:r>
              <a:rPr lang="en-US" sz="2400"/>
              <a:t>: Enables tracking, image recognition, and motion sensing.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18"/>
          <p:cNvPicPr preferRelativeResize="0"/>
          <p:nvPr/>
        </p:nvPicPr>
        <p:blipFill rotWithShape="1">
          <a:blip r:embed="rId3">
            <a:alphaModFix/>
          </a:blip>
          <a:srcRect b="24563" l="0" r="0" t="12315"/>
          <a:stretch/>
        </p:blipFill>
        <p:spPr>
          <a:xfrm>
            <a:off x="2611433" y="10"/>
            <a:ext cx="653256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 txBox="1"/>
          <p:nvPr>
            <p:ph type="title"/>
          </p:nvPr>
        </p:nvSpPr>
        <p:spPr>
          <a:xfrm>
            <a:off x="131234" y="365124"/>
            <a:ext cx="3364057" cy="1275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/>
              <a:t>Advantages of Mixed Reality</a:t>
            </a:r>
            <a:endParaRPr/>
          </a:p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4234" y="1830951"/>
            <a:ext cx="3850890" cy="4832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Enhanced Productivity</a:t>
            </a:r>
            <a:r>
              <a:rPr lang="en-US" sz="2200"/>
              <a:t>: Streamlined workflows in manufacturing.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Improved Learning</a:t>
            </a:r>
            <a:r>
              <a:rPr lang="en-US" sz="2200"/>
              <a:t>: Immersive training environments.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Realistic Simulations</a:t>
            </a:r>
            <a:r>
              <a:rPr lang="en-US" sz="2200"/>
              <a:t>: Cost-effective replicas of risky scenarios.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/>
              <a:t>Collaboration</a:t>
            </a:r>
            <a:r>
              <a:rPr lang="en-US" sz="2200"/>
              <a:t>: Shared virtual-physical environments foster innovation.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150284" y="570971"/>
            <a:ext cx="567901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Calibri"/>
              <a:buNone/>
            </a:pPr>
            <a:r>
              <a:rPr b="1" lang="en-US" sz="4900"/>
              <a:t>Challenges in Mixed Reality</a:t>
            </a:r>
            <a:endParaRPr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150284" y="2224617"/>
            <a:ext cx="567901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Technical Limitations</a:t>
            </a:r>
            <a:r>
              <a:rPr lang="en-US"/>
              <a:t>: High computational demands and power consumption.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Economic Barriers</a:t>
            </a:r>
            <a:r>
              <a:rPr lang="en-US"/>
              <a:t>: Expensive hardware limits accessibility.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Social Concerns</a:t>
            </a:r>
            <a:r>
              <a:rPr lang="en-US"/>
              <a:t>: Privacy and potential over-reliance on technology.</a:t>
            </a:r>
            <a:endParaRPr/>
          </a:p>
        </p:txBody>
      </p:sp>
      <p:pic>
        <p:nvPicPr>
          <p:cNvPr descr="preencoded.png"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29398" r="0" t="0"/>
          <a:stretch/>
        </p:blipFill>
        <p:spPr>
          <a:xfrm>
            <a:off x="6000750" y="0"/>
            <a:ext cx="322792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116417" y="926598"/>
            <a:ext cx="5295898" cy="903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Future of Mixed Reality</a:t>
            </a:r>
            <a:endParaRPr/>
          </a:p>
        </p:txBody>
      </p:sp>
      <p:cxnSp>
        <p:nvCxnSpPr>
          <p:cNvPr id="151" name="Google Shape;151;p20"/>
          <p:cNvCxnSpPr/>
          <p:nvPr/>
        </p:nvCxnSpPr>
        <p:spPr>
          <a:xfrm>
            <a:off x="648855" y="871146"/>
            <a:ext cx="552704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116417" y="2117259"/>
            <a:ext cx="5295898" cy="4110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AI Integration</a:t>
            </a:r>
            <a:r>
              <a:rPr lang="en-US" sz="2800"/>
              <a:t>: Smarter systems powered by Artificial Intelligence.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5G Connectivity</a:t>
            </a:r>
            <a:r>
              <a:rPr lang="en-US" sz="2800"/>
              <a:t>: Low-latency interactions enabled by advanced networks.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Wearable Devices</a:t>
            </a:r>
            <a:r>
              <a:rPr lang="en-US" sz="2800"/>
              <a:t>: Compact, affordable devices increase accessibility.</a:t>
            </a:r>
            <a:endParaRPr sz="2400"/>
          </a:p>
        </p:txBody>
      </p:sp>
      <p:sp>
        <p:nvSpPr>
          <p:cNvPr id="153" name="Google Shape;153;p20"/>
          <p:cNvSpPr/>
          <p:nvPr/>
        </p:nvSpPr>
        <p:spPr>
          <a:xfrm>
            <a:off x="5541064" y="0"/>
            <a:ext cx="3602935" cy="6858000"/>
          </a:xfrm>
          <a:prstGeom prst="rect">
            <a:avLst/>
          </a:prstGeom>
          <a:solidFill>
            <a:srgbClr val="F2F2F2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8310" y="894242"/>
            <a:ext cx="3372310" cy="50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1"/>
          <p:cNvSpPr txBox="1"/>
          <p:nvPr>
            <p:ph type="title"/>
          </p:nvPr>
        </p:nvSpPr>
        <p:spPr>
          <a:xfrm>
            <a:off x="300568" y="3426517"/>
            <a:ext cx="3335640" cy="1031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Conclusion</a:t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 rot="6269068">
            <a:off x="6164896" y="3712762"/>
            <a:ext cx="2987899" cy="2240924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21"/>
          <p:cNvPicPr preferRelativeResize="0"/>
          <p:nvPr/>
        </p:nvPicPr>
        <p:blipFill rotWithShape="1">
          <a:blip r:embed="rId3">
            <a:alphaModFix/>
          </a:blip>
          <a:srcRect b="-1" l="1755" r="25511" t="0"/>
          <a:stretch/>
        </p:blipFill>
        <p:spPr>
          <a:xfrm>
            <a:off x="494935" y="106195"/>
            <a:ext cx="8154129" cy="2270257"/>
          </a:xfrm>
          <a:custGeom>
            <a:rect b="b" l="l" r="r" t="t"/>
            <a:pathLst>
              <a:path extrusionOk="0" h="2957472" w="10580201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3643460" y="2653935"/>
            <a:ext cx="4871890" cy="356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Transformation</a:t>
            </a:r>
            <a:r>
              <a:rPr lang="en-US" sz="2600"/>
              <a:t>: MR reshapes interaction by merging real and virtual worlds.</a:t>
            </a:r>
            <a:endParaRPr sz="2600"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Impact</a:t>
            </a:r>
            <a:r>
              <a:rPr lang="en-US" sz="2600"/>
              <a:t>: Broad applications in education, healthcare, gaming, and more.</a:t>
            </a:r>
            <a:endParaRPr sz="2600"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b="1" lang="en-US" sz="2600"/>
              <a:t>Vision</a:t>
            </a:r>
            <a:r>
              <a:rPr lang="en-US" sz="2600"/>
              <a:t>: MR redefines our relationship with technology and reality.</a:t>
            </a:r>
            <a:endParaRPr sz="2600"/>
          </a:p>
        </p:txBody>
      </p:sp>
    </p:spTree>
  </p:cSld>
  <p:clrMapOvr>
    <a:masterClrMapping/>
  </p:clrMapOvr>
  <mc:AlternateContent>
    <mc:Choice Requires="p14">
      <p:transition spd="slow">
        <p14:prism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 txBox="1"/>
          <p:nvPr>
            <p:ph type="ctrTitle"/>
          </p:nvPr>
        </p:nvSpPr>
        <p:spPr>
          <a:xfrm>
            <a:off x="418657" y="1365472"/>
            <a:ext cx="8233853" cy="3564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0"/>
              <a:buFont typeface="Calibri"/>
              <a:buNone/>
            </a:pPr>
            <a:r>
              <a:rPr lang="en-US" sz="7700"/>
              <a:t>Thank You</a:t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0" y="1913350"/>
            <a:ext cx="96012" cy="24688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488208" y="5831269"/>
            <a:ext cx="819531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